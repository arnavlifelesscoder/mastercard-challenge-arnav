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Arm A, network view</c:v>
                </c:pt>
              </c:strCache>
            </c:strRef>
          </c:tx>
          <c:spPr>
            <a:solidFill>
              <a:srgbClr val="3E5C7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15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Checkout injection</c:v>
                  </c:pt>
                  <c:pt idx="1">
                    <c:v>Email injection</c:v>
                  </c:pt>
                  <c:pt idx="2">
                    <c:v>Cart substitution</c:v>
                  </c:pt>
                  <c:pt idx="3">
                    <c:v>Sub-cap structuring</c:v>
                  </c:pt>
                  <c:pt idx="4">
                    <c:v>Recurring hijack</c:v>
                  </c:pt>
                  <c:pt idx="5">
                    <c:v>Allowlist aliasing</c:v>
                  </c:pt>
                  <c:pt idx="6">
                    <c:v>Agentic ATO</c:v>
                  </c:pt>
                  <c:pt idx="7">
                    <c:v>Mule network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</c:v>
                </c:pt>
                <c:pt idx="6">
                  <c:v>0.25</c:v>
                </c:pt>
                <c:pt idx="7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Arm G, attested view</c:v>
                </c:pt>
              </c:strCache>
            </c:strRef>
          </c:tx>
          <c:spPr>
            <a:solidFill>
              <a:srgbClr val="D01C2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15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Checkout injection</c:v>
                  </c:pt>
                  <c:pt idx="1">
                    <c:v>Email injection</c:v>
                  </c:pt>
                  <c:pt idx="2">
                    <c:v>Cart substitution</c:v>
                  </c:pt>
                  <c:pt idx="3">
                    <c:v>Sub-cap structuring</c:v>
                  </c:pt>
                  <c:pt idx="4">
                    <c:v>Recurring hijack</c:v>
                  </c:pt>
                  <c:pt idx="5">
                    <c:v>Allowlist aliasing</c:v>
                  </c:pt>
                  <c:pt idx="6">
                    <c:v>Agentic ATO</c:v>
                  </c:pt>
                  <c:pt idx="7">
                    <c:v>Mule network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0.7143</c:v>
                </c:pt>
                <c:pt idx="5">
                  <c:v>0.6875</c:v>
                </c:pt>
                <c:pt idx="6">
                  <c:v>1</c:v>
                </c:pt>
                <c:pt idx="7">
                  <c:v>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315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315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b"/>
        <c:majorGridlines>
          <c:spPr>
            <a:ln w="12700" cap="flat">
              <a:solidFill>
                <a:srgbClr val="EDEFF2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Ranking quality, AUC</c:v>
                </c:pt>
              </c:strCache>
            </c:strRef>
          </c:tx>
          <c:spPr>
            <a:solidFill>
              <a:srgbClr val="3E5C7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15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 network
supervised</c:v>
                  </c:pt>
                  <c:pt idx="1">
                    <c:v>C network
novelty</c:v>
                  </c:pt>
                  <c:pt idx="2">
                    <c:v>D attested
novelty</c:v>
                  </c:pt>
                  <c:pt idx="3">
                    <c:v>F invariants
only</c:v>
                  </c:pt>
                  <c:pt idx="4">
                    <c:v>G hybrid
proposed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0.7656</c:v>
                </c:pt>
                <c:pt idx="1">
                  <c:v>0.8735</c:v>
                </c:pt>
                <c:pt idx="2">
                  <c:v>0.9805</c:v>
                </c:pt>
                <c:pt idx="3">
                  <c:v>0.73</c:v>
                </c:pt>
                <c:pt idx="4">
                  <c:v>0.9835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Detection at 0.5% alerts</c:v>
                </c:pt>
              </c:strCache>
            </c:strRef>
          </c:tx>
          <c:spPr>
            <a:solidFill>
              <a:srgbClr val="D01C2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15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 network
supervised</c:v>
                  </c:pt>
                  <c:pt idx="1">
                    <c:v>C network
novelty</c:v>
                  </c:pt>
                  <c:pt idx="2">
                    <c:v>D attested
novelty</c:v>
                  </c:pt>
                  <c:pt idx="3">
                    <c:v>F invariants
only</c:v>
                  </c:pt>
                  <c:pt idx="4">
                    <c:v>G hybrid
proposed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0.344</c:v>
                </c:pt>
                <c:pt idx="1">
                  <c:v>0.3085</c:v>
                </c:pt>
                <c:pt idx="2">
                  <c:v>0.4965</c:v>
                </c:pt>
                <c:pt idx="3">
                  <c:v>0.461</c:v>
                </c:pt>
                <c:pt idx="4">
                  <c:v>0.6277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315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315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12700" cap="flat">
              <a:solidFill>
                <a:srgbClr val="EDEF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AGH-01 checkout injection</c:v>
                </c:pt>
              </c:strCache>
            </c:strRef>
          </c:tx>
          <c:spPr>
            <a:solidFill>
              <a:srgbClr val="D01C2F"/>
            </a:solidFill>
            <a:ln w="38100" cap="flat">
              <a:solidFill>
                <a:srgbClr val="D01C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01C2F"/>
              </a:solidFill>
              <a:ln w="9525" cap="flat">
                <a:solidFill>
                  <a:srgbClr val="D01C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0.02</c:v>
                </c:pt>
                <c:pt idx="4">
                  <c:v>0.68</c:v>
                </c:pt>
                <c:pt idx="5">
                  <c:v>0.88</c:v>
                </c:pt>
                <c:pt idx="6">
                  <c:v>0.9</c:v>
                </c:pt>
                <c:pt idx="7">
                  <c:v>0.94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AGH-03 hidden DOM</c:v>
                </c:pt>
              </c:strCache>
            </c:strRef>
          </c:tx>
          <c:spPr>
            <a:solidFill>
              <a:srgbClr val="E8734A"/>
            </a:solidFill>
            <a:ln w="38100" cap="flat">
              <a:solidFill>
                <a:srgbClr val="E873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734A"/>
              </a:solidFill>
              <a:ln w="9525" cap="flat">
                <a:solidFill>
                  <a:srgbClr val="E873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0.48</c:v>
                </c:pt>
                <c:pt idx="1">
                  <c:v>0.76</c:v>
                </c:pt>
                <c:pt idx="2">
                  <c:v>0.88</c:v>
                </c:pt>
                <c:pt idx="3">
                  <c:v>0.82</c:v>
                </c:pt>
                <c:pt idx="4">
                  <c:v>0.86</c:v>
                </c:pt>
                <c:pt idx="5">
                  <c:v>0.88</c:v>
                </c:pt>
                <c:pt idx="6">
                  <c:v>0.9</c:v>
                </c:pt>
                <c:pt idx="7">
                  <c:v>0.88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MND-05 allowlist aliasing</c:v>
                </c:pt>
              </c:strCache>
            </c:strRef>
          </c:tx>
          <c:spPr>
            <a:solidFill>
              <a:srgbClr val="3E5C76"/>
            </a:solidFill>
            <a:ln w="38100" cap="flat">
              <a:solidFill>
                <a:srgbClr val="3E5C7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E5C76"/>
              </a:solidFill>
              <a:ln w="9525" cap="flat">
                <a:solidFill>
                  <a:srgbClr val="3E5C7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0.36</c:v>
                </c:pt>
                <c:pt idx="1">
                  <c:v>0.5</c:v>
                </c:pt>
                <c:pt idx="2">
                  <c:v>0.66</c:v>
                </c:pt>
                <c:pt idx="3">
                  <c:v>0.74</c:v>
                </c:pt>
                <c:pt idx="4">
                  <c:v>0.9</c:v>
                </c:pt>
                <c:pt idx="5">
                  <c:v>0.92</c:v>
                </c:pt>
                <c:pt idx="6">
                  <c:v>0.86</c:v>
                </c:pt>
                <c:pt idx="7">
                  <c:v>0.9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MND-01 memory poisoning</c:v>
                </c:pt>
              </c:strCache>
            </c:strRef>
          </c:tx>
          <c:spPr>
            <a:solidFill>
              <a:srgbClr val="7C8698"/>
            </a:solidFill>
            <a:ln w="38100" cap="flat">
              <a:solidFill>
                <a:srgbClr val="7C869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8698"/>
              </a:solidFill>
              <a:ln w="9525" cap="flat">
                <a:solidFill>
                  <a:srgbClr val="7C869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AGH-07 email injection</c:v>
                </c:pt>
              </c:strCache>
            </c:strRef>
          </c:tx>
          <c:spPr>
            <a:solidFill>
              <a:srgbClr val="2E7D4F"/>
            </a:solidFill>
            <a:ln w="38100" cap="flat">
              <a:solidFill>
                <a:srgbClr val="2E7D4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4F"/>
              </a:solidFill>
              <a:ln w="9525" cap="flat">
                <a:solidFill>
                  <a:srgbClr val="2E7D4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</c:lvl>
              </c:multiLvlStrCache>
            </c:multiLvl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Arial"/>
                  </a:rPr>
                  <a:t>generation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315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12700" cap="flat">
              <a:solidFill>
                <a:srgbClr val="EDEFF2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we built the attacker and the defender, and the defender wins without labelled agentic fraud.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this is not a degraded signal problem, it is a missing signal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3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ARTS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640080" y="2788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CE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Red Team Simulator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that invents agentic payment fraud, simulates it at scale,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defends against it without ever having seen a labelled example.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800600"/>
            <a:ext cx="822960" cy="41148"/>
          </a:xfrm>
          <a:prstGeom prst="rect">
            <a:avLst/>
          </a:prstGeom>
          <a:solidFill>
            <a:srgbClr val="D01C2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50749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 Innovation Challenge  ·  Global Fintech Fest 2026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509760" y="1783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D01C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859536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vectors mapped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509760" y="30632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8595360" y="3886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end to end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fraud is not harder to detect. It is invisible.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73352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73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6002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authorization is valid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07008" y="194767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agentic token, passing attestation, inside the granted mandate. Nothing to decline 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99232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92608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really consented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7008" y="327355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not to this. The fraud lives in the gap between intent and cart, which the network never sees.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325112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42519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is somewhere else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7008" y="459943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utterance, the confirmation event, the memory write. All inside the agent platform.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498080" y="1554480"/>
            <a:ext cx="4023360" cy="3931920"/>
          </a:xfrm>
          <a:prstGeom prst="roundRect">
            <a:avLst>
              <a:gd name="adj" fmla="val 1395"/>
            </a:avLst>
          </a:prstGeom>
          <a:solidFill>
            <a:srgbClr val="1E2230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18120" y="18288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fraud model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sees today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818120" y="27889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    $412.00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mcc       5999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     agentic, attested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mandate   valid, in scope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9CE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3ds       frictionless
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6EE7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 APPROVE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18120" y="4709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to a legitimate agent purchase.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 · IDENTIFY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vectors across five families, weighted to agentic rails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37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01C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91640" y="18470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hijack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2350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user's own agent is turned against them by content it ingests.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727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01C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94960" y="18470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abuse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350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Fraudulent spend engineered to stay inside the granted envelope.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5727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5320" y="17373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01C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9098280" y="184708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spoofing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5320" y="23500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 merchant is not who the counterparty believes.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49300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576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01C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691640" y="3767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GenAI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2702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Pre-agentic typologies where GenAI collapses cost and scale.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43400" y="349300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36576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01C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394960" y="3767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rail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2702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Refunds, stored value, B2B, mule networks, post-authorization.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6720" y="349300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1E2230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75320" y="3657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vector is machine readable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75320" y="4160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Mechanism, observable signals, a parameter genome with sampling ranges, and candidate defense features. One YAML feeds all three pillars.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schema/taxonomy.yaml  ·  156 tunable parameters  ·  98 candidate detection features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 every field with who actually holds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2286000"/>
          </a:xfrm>
          <a:prstGeom prst="roundRect">
            <a:avLst>
              <a:gd name="adj" fmla="val 2400"/>
            </a:avLst>
          </a:prstGeom>
          <a:solidFill>
            <a:srgbClr val="F4F5F8"/>
          </a:solidFill>
          <a:ln w="12700">
            <a:solidFill>
              <a:srgbClr val="D8DB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15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v_network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96112" y="2286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01C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 fields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96112" y="2724912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rails carry today. The incumbent trains here.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645920"/>
            <a:ext cx="3429000" cy="2286000"/>
          </a:xfrm>
          <a:prstGeom prst="roundRect">
            <a:avLst>
              <a:gd name="adj" fmla="val 2400"/>
            </a:avLst>
          </a:prstGeom>
          <a:solidFill>
            <a:srgbClr val="D01C2F"/>
          </a:solidFill>
          <a:ln w="12700">
            <a:solidFill>
              <a:srgbClr val="D01C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v_attested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99432" y="2286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111 fields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99432" y="2724912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D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issuer history plus every field an attestation could carry. The deployable target.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645920"/>
            <a:ext cx="3429000" cy="2286000"/>
          </a:xfrm>
          <a:prstGeom prst="roundRect">
            <a:avLst>
              <a:gd name="adj" fmla="val 2400"/>
            </a:avLst>
          </a:prstGeom>
          <a:solidFill>
            <a:srgbClr val="3E5C76"/>
          </a:solidFill>
          <a:ln w="12700">
            <a:solidFill>
              <a:srgbClr val="3E5C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2752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v_omniscient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02752" y="2286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 fields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02752" y="2724912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D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Everything. A ceiling, not a proposal.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206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emit whole records. Projection to a view happens once, in one function, before any model sees the data. The projection is the experiment.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489204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FBEEF0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07492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7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reframes the finding. The detector is not weak, the evidence is stranded on the far side of a trust boundary. That turns a model problem into a network design problem, and names the exact fields worth attesting.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 · GENERATE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Fidelity is enforced by the harness, not promised in prose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56232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85623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must authorize cleanly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3774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generator starts from a well formed approved authorization and changes only what the attack changes. The smoke test fails the build if agentic attack approval drops below 90%.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19672" y="1856232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40880" y="185623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Genomes are checked against the taxonomy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9672" y="23774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check_params rejects any sampled value outside the declared range, so code and taxonomy cannot drift apart.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4005072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17320" y="400507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Episodes are grouped, never split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6112" y="4526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records share a campaign_id and all splits group on it. A row level split would leak the attack into training.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7490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9672" y="4005072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21" name="Text 19"/>
          <p:cNvSpPr/>
          <p:nvPr/>
        </p:nvSpPr>
        <p:spPr>
          <a:xfrm>
            <a:off x="6519672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40880" y="400507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rate means what a payments person means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19672" y="45262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episode prevalence is converted to a record level rate. Without it, fan-out vectors silently swamp the dataset.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attack generators · 3 benign generators · records validated against an ISO 8583 derived schema with agentic extensions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 · DEFEND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arms, one honest question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23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07008" y="15910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5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supervised, v_network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977640" y="160020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incumbent. Trained on benign plus classical fraud only.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1305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23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07008" y="216712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5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supervised, v_attested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977640" y="217627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labels, better evidence.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7066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23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07008" y="274320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5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novelty, v_network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977640" y="275234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fitted on legitimate traffic only.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28269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23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2826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07008" y="331927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5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novelty, v_attested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77640" y="33284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Same, with provenance.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858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23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58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07008" y="389534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5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supervised oracle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77640" y="39044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attacks in training. Upper reference, not a claim.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230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434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07008" y="447141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15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invariants only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977640" y="44805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consent checks. No model, no labels.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0109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D01C2F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010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207008" y="504748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01C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hybrid, D or F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977640" y="50566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proposed defense.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55280" y="1554480"/>
            <a:ext cx="3566160" cy="4023360"/>
          </a:xfrm>
          <a:prstGeom prst="roundRect">
            <a:avLst>
              <a:gd name="adj" fmla="val 1538"/>
            </a:avLst>
          </a:prstGeom>
          <a:solidFill>
            <a:srgbClr val="1E2230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0" y="1783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229600" y="228600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attacks never appear in training. Every treatment number is zero shot.
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threshold is fixed at 0.5% of legitimate traffic and calibrated on a held-out benign slice, never on training rows.
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group on campaign_id.
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60,000 episodes, 29 attack generators, fixed seed.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incumbent is blind, not merely degraded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08760"/>
          <a:ext cx="7406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06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 by attack, at a fixed 0.5% alert budget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321040" y="1508760"/>
            <a:ext cx="3200400" cy="4206240"/>
          </a:xfrm>
          <a:prstGeom prst="roundRect">
            <a:avLst>
              <a:gd name="adj" fmla="val 1714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595360" y="1783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zeros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595360" y="2286000"/>
            <a:ext cx="2651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agentic vectors sit at exactly 0.00 for the incumbent. These are the attacks the taxonomy predicted would be invisible at the network, and they are.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row is the counterweight. Mule networks are caught by the incumbent and missed by ours.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deployment shape is an OR of both detectors, not a replacement.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 that forced a redesign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212080" cy="2011680"/>
          </a:xfrm>
          <a:prstGeom prst="roundRect">
            <a:avLst>
              <a:gd name="adj" fmla="val 2727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the supervised model the attested provenance fields and it recovers.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5212080" cy="2011680"/>
          </a:xfrm>
          <a:prstGeom prst="roundRect">
            <a:avLst>
              <a:gd name="adj" fmla="val 2727"/>
            </a:avLst>
          </a:prstGeom>
          <a:solidFill>
            <a:srgbClr val="FBEEF0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97764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3891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7A12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 moved from 0.344 to 0.355. Statistically nothing.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309360" y="1600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309360" y="210312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supervised model trained only on classical fraud has never seen one example where an intent-to-cart mismatch meant fraud. It never learns to use the column.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evidence does not help a model whose labels never contained the pattern. And in the real world there is barely any labelled agentic fraud to train on, so this is not a temporary problem.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conclusion is structural: the defense cannot be supervised.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5029200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1E2230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51937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this because a judge would ask. It is also what makes the next slide credible.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defense that needs no labelled agentic fraud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5448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5778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attacks, none of which appear in training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863840" y="1554480"/>
            <a:ext cx="3657600" cy="3931920"/>
          </a:xfrm>
          <a:prstGeom prst="roundRect">
            <a:avLst>
              <a:gd name="adj" fmla="val 1500"/>
            </a:avLst>
          </a:prstGeom>
          <a:solidFill>
            <a:srgbClr val="1E2230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3816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 G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138160" y="2286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01C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813816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unseen agentic attacks, at a 0.7% alert rate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36118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detection fitted on legitimate traffic, ORed with nine consent invariants. Neither half uses a fraud label.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C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fail on disjoint attacks, so the combiner is a rank-max, not an average. Averaging halved whichever detector was firing and cost us an entire vector.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properties a well-formed agentic authorization must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9344"/>
            <a:ext cx="201168" cy="20116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554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submitted basket is the one the user consented to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609344"/>
            <a:ext cx="201168" cy="20116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7" name="Text 5"/>
          <p:cNvSpPr/>
          <p:nvPr/>
        </p:nvSpPr>
        <p:spPr>
          <a:xfrm>
            <a:off x="6629400" y="1554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charged is the amount consented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76272"/>
            <a:ext cx="201168" cy="20116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12140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 matches what the user asked for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2176272"/>
            <a:ext cx="201168" cy="20116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12140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payee change came from the user, not from ingested content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201168" cy="20116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68833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merchant is the allowlisted merchant, not a lookalike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2743200"/>
            <a:ext cx="201168" cy="20116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2688336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is not parked immediately below the cap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310128"/>
            <a:ext cx="201168" cy="20116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2552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mandate is inside its validity window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3310128"/>
            <a:ext cx="201168" cy="20116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3255264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that executed is the agent that was enrolled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877056"/>
            <a:ext cx="201168" cy="20116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82219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one-time code was consumed by the session that requested it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230368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is learned from fraud. Each is a contract term, checkable the moment the provenance field is attested, and explainable to an analyst in one sentence. That is why they generalise to attacks nobody has seen.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CLOSES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attacked our own defense for eight generations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54480"/>
          <a:ext cx="70408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5778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mutated genomes that evade arm G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955280" y="1554480"/>
            <a:ext cx="3566160" cy="1874520"/>
          </a:xfrm>
          <a:prstGeom prst="roundRect">
            <a:avLst>
              <a:gd name="adj" fmla="val 2927"/>
            </a:avLst>
          </a:prstGeom>
          <a:solidFill>
            <a:srgbClr val="FBEEF0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0" y="1755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signals erode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0" y="21488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AGH-01 goes from 0% evasion to 94% in seven generations of mutation inside the declared ranges.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955280" y="3611880"/>
            <a:ext cx="3566160" cy="1874520"/>
          </a:xfrm>
          <a:prstGeom prst="roundRect">
            <a:avLst>
              <a:gd name="adj" fmla="val 2927"/>
            </a:avLst>
          </a:prstGeom>
          <a:solidFill>
            <a:srgbClr val="EAF3EE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0" y="38130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Invariants do not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0" y="42062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E5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AGH-07, MND-01, MND-02, MND-04 and XRL-04 never evade once. You cannot mutate a genome into not having mutated the payee.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vector's difficulty in the taxonomy is now a measured evasion rate, replacing the hand-set prior. Several priors were badly wrong.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FEASIBILITY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 is small, specific, and already on the roadmap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5544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Attest, do not transmit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120640" y="1572768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is carried as an embedding and a consent hash, never as the user's transcript. The network learns that the cart diverged, not what was said.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26974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mandate envelope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120640" y="2715768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Pay, Trusted Agent Protocol and AP2 already carry an agent identity and a mandate. Every field we need is an extension of that envelope, not a new rail.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38404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beside the incumbent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20640" y="3858768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runs as an OR with the existing model. Classical fraud keeps its detector, agentic fraud gets one, and the alert budget stays at 0.5%.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D01C2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49834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 is solved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20640" y="5001768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defense needs zero labelled agentic fraud, which is exactly the position every issuer is in today.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vantage model in schema/auth_record.yaml names every field, its holder, and whether attestation could carry it.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WOULD NOT CLAIM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3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before you find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562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Per-vector counts are small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313432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4 and 58 test records per attack. Arm-level numbers are well powered; the per-vector table is directional.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8562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oracle is too good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313432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E reaches 0.9996 with agentic attacks in training. Real fraud is less separable than simulated fraud, even with perfect labels.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00507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settlement clock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4462272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abuse and merchant bust-out are approximated on the authorization record rather than modelled on their own timeline.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37490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9525">
            <a:solidFill>
              <a:srgbClr val="D8DB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400507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Recalibration is not a cure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7960" y="4462272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coevolution, refitting the defense on fresh benign traffic restores some vectors and not others. We report both.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01C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loop, in one 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invented 42 ways to rob an agent, built 29 of them,</a:t>
            </a:r>
            <a:endParaRPr lang="en-US" sz="2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our own detector blind to a third, and shipped a defense</a:t>
            </a:r>
            <a:endParaRPr lang="en-US" sz="2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catches them without a single labelled example.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49560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 mapped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429000" y="4297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429000" y="49560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217920" y="4297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01C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0.984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217920" y="49560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AUC, unseen attacks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006840" y="42976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006840" y="49560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budget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5852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8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taxonomy, experiments and prototype all reproduce from a fixed seed.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ARTS: Agentic Red Team Simulator</dc:title>
  <dc:subject>PptxGenJS Presentation</dc:subject>
  <dc:creator>ARTS</dc:creator>
  <cp:lastModifiedBy>ARTS</cp:lastModifiedBy>
  <cp:revision>1</cp:revision>
  <dcterms:created xsi:type="dcterms:W3CDTF">2026-08-16T12:23:11Z</dcterms:created>
  <dcterms:modified xsi:type="dcterms:W3CDTF">2026-08-16T12:23:11Z</dcterms:modified>
</cp:coreProperties>
</file>